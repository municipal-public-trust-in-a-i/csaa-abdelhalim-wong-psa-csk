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1389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A4A"/>
                </a:solidFill>
                <a:latin typeface="Times New Roman"/>
              </a:defRPr>
            </a:pPr>
            <a:r>
              <a:t>Anti-SLAPP: Park, Baral, Wilson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0"/>
            <a:ext cx="1389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54545"/>
                </a:solidFill>
                <a:latin typeface="Calibri"/>
              </a:defRPr>
            </a:pPr>
            <a:r>
              <a:t>Hearing: May 6, 2026, Dept. 301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0"/>
            <a:ext cx="1389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54545"/>
                </a:solidFill>
                <a:latin typeface="Calibri"/>
              </a:defRPr>
            </a:pPr>
            <a:r>
              <a:t>Zabdelhalim v. Insurers (caption on file) — CGC-25-631801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Anti-SLAPP: Park, Baral, Wilson (see briefing)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The ask (sequencing)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Deny where step one is facially insufficient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Step two only if step one is valid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Preserve CCP 425.16(f) renewal; no freeze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CCP § 425.16; JKC3H8 (2013) 221 Cal.App.4th 471–472, 477–478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The two-step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62179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A4A"/>
                </a:solidFill>
                <a:latin typeface="Times New Roman"/>
              </a:defRPr>
            </a:pPr>
            <a:r>
              <a:t>Step 1 — Defendants' burden</a:t>
            </a:r>
          </a:p>
          <a:p>
            <a:pPr>
              <a:spcBef>
                <a:spcPts val="400"/>
              </a:spcBef>
              <a:defRPr sz="2400">
                <a:latin typeface="Calibri"/>
              </a:defRPr>
            </a:pPr>
            <a:r>
              <a:t>CCP 425.16: “arising from” and Park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554480"/>
            <a:ext cx="62179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A4A"/>
                </a:solidFill>
                <a:latin typeface="Times New Roman"/>
              </a:defRPr>
            </a:pPr>
            <a:r>
              <a:t>Step 2 — After valid step one</a:t>
            </a:r>
          </a:p>
          <a:p>
            <a:pPr>
              <a:spcBef>
                <a:spcPts val="400"/>
              </a:spcBef>
              <a:defRPr sz="2400">
                <a:latin typeface="Calibri"/>
              </a:defRPr>
            </a:pPr>
            <a:r>
              <a:t>Plaintiff: Baral minimal-merit showing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675120" y="2148840"/>
            <a:ext cx="822960" cy="594360"/>
          </a:xfrm>
          <a:prstGeom prst="rightArrow">
            <a:avLst/>
          </a:prstGeom>
          <a:solidFill>
            <a:srgbClr val="1A2A4A"/>
          </a:solidFill>
          <a:ln w="9525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 (2017) 2 Cal.5th 1057; Baral (2016) 1 Cal.5th 376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Park: one gravamen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Injury-producing act — not “case posture”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The act that supplies liability, isolated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 v. Bd. of Trustees (2017) 2 Cal.5th 1057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Where the motion stops (step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“Litigation conduct” label, no act map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 protected act per claim’s gravamen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Burden not shifted; Park is not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 (2017) 2 Cal.5th 1057; Wilson (2019) 7 Cal.5th 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Civ. Code 47(b) is not 425.16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Privilege and “arising from” are different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Litigation-comm defense is not 425.16,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CCP § 425.16; Wilson (2019) 7 Cal.5th 871; Ex. 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Omissions, files, pre-filing (not “speech”)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Noncommunicative conduct, records, pre-filing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Not “petitioning” at step 1 (Park, Action Apts.)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Action Apartment (2007) 41 Cal.4th 1232;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Blank Baral order is 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“Grants the motion as follows” — stricken is what?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 claim-level relief; mixed-claim order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Baral (2016) 1 Cal.5th 376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Sequence error (rhetoric)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“Cannot prevail / unsupportable” = step-2 idiom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 valid step 1 — burden has not shifted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Baral; Park; Ex. A-3 (sequence)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801 gravamen: equity, not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Independent action in equity — vacatur / equity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Extrinsic-fraud, not a speech-as-wrong model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Equity channel — not Park-Step-1 as 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Park; Kougasian 118 Cal.App.4th 1028; SAC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CSK / Chambers: noncommunicative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Possession, path, failure to convey file history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Conduct-based — not “petitioning speech” at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Park; Wilson; Ex. A-3 (shared rows)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389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A4A"/>
                </a:solidFill>
                <a:latin typeface="Times New Roman"/>
              </a:defRPr>
            </a:pPr>
            <a:r>
              <a:t>Ex. A-3, excerpted rows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60120"/>
          <a:ext cx="13898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2960"/>
                <a:gridCol w="4632960"/>
                <a:gridCol w="4632960"/>
              </a:tblGrid>
              <a:tr h="525780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Defense label (short)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Why fatal (short)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Litigation label, no Park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Injury act per count (not posture)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No burden shift; step 1 facially fails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Civ. 47(b) as step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425.16 “arising from” and gravamen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Label swap is not 425.16, step 1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Blank “grants as follows”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What is stricken? (Baral)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Order template is void on the face (Baral)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Ex. A-3 (lodged 2026-04-27, CGC-25-631801)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Arguendo — step 2, Baral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Minimal reasonable probability, least triable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Arises only if step one is valid first (Park)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Baral (2016) 1 Cal.5th 376; Wilson (2019) 7 Cal.5th 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Arguendo — 801, counts,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Seven counts, RJN, pleading channels in SAC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Ex. A-2, four Opposition lines; admissibility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SAC Counts 1–7; Ex. A-2; Baral (minimal)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CCP 425.16(f) is preserved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JKC3H8: leave / anti-subversion; 425.16(f) lane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Nguyen-Lam: leave discretion, supporting 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221 Cal.App.4th 471–472, 477–478; 171 Cal.App.4th 871–873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Requested ruling (sequencing)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Deny — or do not treat as carrying — step 1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Leave: CCP 473(a)(1), 576, if the Court orders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Defendants: renewal under 425.16(f) is preserved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CCP §§ 425.16(f), 473(a)(1), 576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CGC-25-631801  |  May 6, 2026 — Dept. 301  |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